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E2E8F0"/>
                </a:solidFill>
              </a:defRPr>
            </a:p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E2E8F0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749807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E2E8F0"/>
                </a:solidFill>
              </a:defRPr>
            </a:pPr>
            <a:r>
              <a:t>Smart Application in Artificial Intelligence and Machine Learning: Study and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154680"/>
            <a:ext cx="4983480" cy="1554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E2E8F0"/>
                </a:solidFill>
                <a:latin typeface="Arial"/>
              </a:defRPr>
            </a:pPr>
            <a:r>
              <a:t>Professor: EL MKHALET MOUNA</a:t>
            </a:r>
          </a:p>
          <a:p>
            <a:pPr>
              <a:spcAft>
                <a:spcPts val="600"/>
              </a:spcAft>
              <a:defRPr sz="1400">
                <a:solidFill>
                  <a:srgbClr val="E2E8F0"/>
                </a:solidFill>
                <a:latin typeface="Arial"/>
              </a:defRPr>
            </a:pPr>
            <a:r>
              <a:t>Student: To be completed</a:t>
            </a:r>
          </a:p>
          <a:p>
            <a:pPr>
              <a:spcAft>
                <a:spcPts val="600"/>
              </a:spcAft>
              <a:defRPr sz="1400">
                <a:solidFill>
                  <a:srgbClr val="E2E8F0"/>
                </a:solidFill>
                <a:latin typeface="Arial"/>
              </a:defRPr>
            </a:pPr>
            <a:r>
              <a:t>Executable desktop app, report, presentation and English video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2926080"/>
            <a:ext cx="1965960" cy="8229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6</a:t>
            </a:r>
          </a:p>
          <a:p>
            <a:pPr algn="ctr">
              <a:defRPr sz="900">
                <a:solidFill>
                  <a:srgbClr val="E2E8F0"/>
                </a:solidFill>
              </a:defRPr>
            </a:pPr>
            <a:r>
              <a:t>ML modules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3977639"/>
            <a:ext cx="1965960" cy="82296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.exe</a:t>
            </a:r>
          </a:p>
          <a:p>
            <a:pPr algn="ctr">
              <a:defRPr sz="900">
                <a:solidFill>
                  <a:srgbClr val="E2E8F0"/>
                </a:solidFill>
              </a:defRPr>
            </a:pPr>
            <a:r>
              <a:t>desktop delivery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" y="6355080"/>
            <a:ext cx="786384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41080" y="6199632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2004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38BDF8"/>
                </a:solidFill>
                <a:latin typeface="Arial"/>
              </a:defRPr>
            </a:pPr>
            <a:r>
              <a:t>TABLE OF CONTENT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12648"/>
            <a:ext cx="7955279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Presentation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21488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508760"/>
            <a:ext cx="73152" cy="1417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673351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1. Foundation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984248"/>
            <a:ext cx="1828800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AI and machine learning basics.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54680" y="1508760"/>
            <a:ext cx="21488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154680" y="1508760"/>
            <a:ext cx="73152" cy="14173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55848" y="1673351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2. Workflow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55848" y="1984248"/>
            <a:ext cx="1828800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how each module runs an experiment.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23560" y="1508760"/>
            <a:ext cx="21488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23560" y="1508760"/>
            <a:ext cx="73152" cy="14173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24728" y="1673351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3. Architecture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24728" y="1984248"/>
            <a:ext cx="1828800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interface, algorithms, visualization and packaging.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429000"/>
            <a:ext cx="21488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3429000"/>
            <a:ext cx="73152" cy="14173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" y="3593592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4. Demonstration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" y="3904487"/>
            <a:ext cx="1828800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screenshots and module results.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154680" y="3429000"/>
            <a:ext cx="21488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154680" y="3429000"/>
            <a:ext cx="73152" cy="14173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55848" y="3593592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5. Methods and applications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55848" y="3904487"/>
            <a:ext cx="1828800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algorithms, domains and limits.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23560" y="3429000"/>
            <a:ext cx="21488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23560" y="3429000"/>
            <a:ext cx="73152" cy="14173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24728" y="3593592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6. Defense plan and conclusion.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24728" y="3904487"/>
            <a:ext cx="1828800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Close the project story and prepare for questions.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30352" y="6355080"/>
            <a:ext cx="786384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41080" y="6199632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2004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38BDF8"/>
                </a:solidFill>
                <a:latin typeface="Arial"/>
              </a:defRPr>
            </a:pPr>
            <a:r>
              <a:t>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12648"/>
            <a:ext cx="7955279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The project must prove execution, understanding and communication.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00200"/>
            <a:ext cx="4800600" cy="3291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Executable Windows application required for validation.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Report title and structure follow the official PDF.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Presentation stays concise for a maximum 7-minute defense.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English video script is prepared for the final package.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89320" y="1508760"/>
            <a:ext cx="2606040" cy="4297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3640" y="178308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Validation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2240280"/>
            <a:ext cx="2057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E2E8F0"/>
                </a:solidFill>
              </a:defRPr>
            </a:pPr>
            <a:r>
              <a:t>Executable</a:t>
            </a:r>
          </a:p>
          <a:p>
            <a:pPr>
              <a:spcAft>
                <a:spcPts val="800"/>
              </a:spcAft>
              <a:defRPr sz="1050">
                <a:solidFill>
                  <a:srgbClr val="E2E8F0"/>
                </a:solidFill>
              </a:defRPr>
            </a:pPr>
            <a:r>
              <a:t>Report</a:t>
            </a:r>
          </a:p>
          <a:p>
            <a:pPr>
              <a:spcAft>
                <a:spcPts val="800"/>
              </a:spcAft>
              <a:defRPr sz="1050">
                <a:solidFill>
                  <a:srgbClr val="E2E8F0"/>
                </a:solidFill>
              </a:defRPr>
            </a:pPr>
            <a:r>
              <a:t>Presentation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" y="6355080"/>
            <a:ext cx="786384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41080" y="6199632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2004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38BDF8"/>
                </a:solidFill>
                <a:latin typeface="Arial"/>
              </a:defRPr>
            </a:pPr>
            <a:r>
              <a:t>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12648"/>
            <a:ext cx="7955279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AI and machine learning convert data into useful decisions.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00200"/>
            <a:ext cx="4800600" cy="3291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AI combines data, algorithms, models, evaluation and deployment.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Machine learning learns patterns instead of hard-coding every rule.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The project uses random data to make experiments controlled and repeatable.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89320" y="1508760"/>
            <a:ext cx="2606040" cy="4297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3640" y="178308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2240280"/>
            <a:ext cx="2057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E2E8F0"/>
                </a:solidFill>
              </a:defRPr>
            </a:pPr>
            <a:r>
              <a:t>Data</a:t>
            </a:r>
          </a:p>
          <a:p>
            <a:pPr>
              <a:spcAft>
                <a:spcPts val="800"/>
              </a:spcAft>
              <a:defRPr sz="1050">
                <a:solidFill>
                  <a:srgbClr val="E2E8F0"/>
                </a:solidFill>
              </a:defRPr>
            </a:pPr>
            <a:r>
              <a:t>Model</a:t>
            </a:r>
          </a:p>
          <a:p>
            <a:pPr>
              <a:spcAft>
                <a:spcPts val="800"/>
              </a:spcAft>
              <a:defRPr sz="1050">
                <a:solidFill>
                  <a:srgbClr val="E2E8F0"/>
                </a:solidFill>
              </a:defRPr>
            </a:pPr>
            <a:r>
              <a:t>Decision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" y="6355080"/>
            <a:ext cx="786384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41080" y="6199632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2004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38BDF8"/>
                </a:solidFill>
                <a:latin typeface="Arial"/>
              </a:defRPr>
            </a:pPr>
            <a:r>
              <a:t>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12648"/>
            <a:ext cx="7955279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Each module follows one clear scientific workflow.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00200"/>
            <a:ext cx="4023360" cy="228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Choose parameters with sliders.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Generate random data using numpy.random.uniform.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Train the model and calculate metrics.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Interpret the graph and the result together.</a:t>
            </a:r>
          </a:p>
        </p:txBody>
      </p:sp>
      <p:pic>
        <p:nvPicPr>
          <p:cNvPr id="6" name="Picture 5" descr="ml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828800"/>
            <a:ext cx="3749039" cy="170842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30352" y="6355080"/>
            <a:ext cx="786384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41080" y="6199632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2004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38BDF8"/>
                </a:solidFill>
                <a:latin typeface="Arial"/>
              </a:defRPr>
            </a:pPr>
            <a: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12648"/>
            <a:ext cx="7955279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The application is modular and packaged as a desktop executable.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00200"/>
            <a:ext cx="4023360" cy="228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CustomTkinter provides the interface.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scikit-learn and statsmodels provide the algorithms.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Matplotlib displays embedded visualizations.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PyInstaller generates the final .exe.</a:t>
            </a:r>
          </a:p>
        </p:txBody>
      </p:sp>
      <p:pic>
        <p:nvPicPr>
          <p:cNvPr id="6" name="Picture 5" descr="app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783080"/>
            <a:ext cx="3794760" cy="191872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30352" y="6355080"/>
            <a:ext cx="786384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41080" y="6199632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2004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38BDF8"/>
                </a:solidFill>
                <a:latin typeface="Arial"/>
              </a:defRPr>
            </a:pPr>
            <a:r>
              <a:t>SCREENSHOT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12648"/>
            <a:ext cx="7955279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The regression tab demonstrates a complete ML experiment.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00200"/>
            <a:ext cx="2926080" cy="3108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The user controls input ranges and noise.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The model estimates coefficients and intercept.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R2 and RMSE explain model quality.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94760" y="1645920"/>
            <a:ext cx="4754879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creenshot_regre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1691640"/>
            <a:ext cx="4663440" cy="2841784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30352" y="6355080"/>
            <a:ext cx="786384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41080" y="6199632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2004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38BDF8"/>
                </a:solidFill>
                <a:latin typeface="Arial"/>
              </a:defRPr>
            </a:pPr>
            <a:r>
              <a:t>SCREENSHOT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12648"/>
            <a:ext cx="7955279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The clustering tab shows unsupervised learning in 3D.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00200"/>
            <a:ext cx="2926080" cy="3108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K-Means discovers groups without labels.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The 3D view shows separation between clusters.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The silhouette score summarizes cluster quality.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94760" y="1645920"/>
            <a:ext cx="4754879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creenshot_cluste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1691640"/>
            <a:ext cx="4663440" cy="2841784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30352" y="6355080"/>
            <a:ext cx="786384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41080" y="6199632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2004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38BDF8"/>
                </a:solidFill>
                <a:latin typeface="Arial"/>
              </a:defRPr>
            </a:pPr>
            <a:r>
              <a:t>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12648"/>
            <a:ext cx="7955279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Classification and validation show performance comparison.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3840479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creenshot_random_for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91640"/>
            <a:ext cx="3749039" cy="2284571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663440" y="1645920"/>
            <a:ext cx="3840479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creenshot_valid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1691640"/>
            <a:ext cx="3749039" cy="228457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4526280"/>
            <a:ext cx="7406640" cy="1051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Random Forest explains accuracy and feature importance.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Cross-validation reduces dependence on one split.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The application compares several models in one place.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" y="6355080"/>
            <a:ext cx="786384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41080" y="6199632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2004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38BDF8"/>
                </a:solidFill>
                <a:latin typeface="Arial"/>
              </a:defRPr>
            </a:pPr>
            <a:r>
              <a:t>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12648"/>
            <a:ext cx="7955279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The six tabs cover the required machine learning families.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91640"/>
            <a:ext cx="20574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91640"/>
            <a:ext cx="73152" cy="1417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856232"/>
            <a:ext cx="1737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Regression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167128"/>
            <a:ext cx="1737360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continuous prediction.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71800" y="1691640"/>
            <a:ext cx="20574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971800" y="1691640"/>
            <a:ext cx="73152" cy="14173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72968" y="1856232"/>
            <a:ext cx="1737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Clustering 3D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72968" y="2167128"/>
            <a:ext cx="1737360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unsupervised grouping.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703320"/>
            <a:ext cx="20574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3703320"/>
            <a:ext cx="73152" cy="14173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" y="3867911"/>
            <a:ext cx="1737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Random Forest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4178808"/>
            <a:ext cx="1737360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ensemble classification.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71800" y="3703320"/>
            <a:ext cx="20574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71800" y="3703320"/>
            <a:ext cx="73152" cy="14173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72968" y="3867911"/>
            <a:ext cx="1737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ARIMA, neural network and cross-validation complete the TP.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72968" y="4178808"/>
            <a:ext cx="1737360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ARIMA, neural network and cross-validation complete the TP.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89320" y="1508760"/>
            <a:ext cx="2606040" cy="4297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178308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Defense focus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240280"/>
            <a:ext cx="2057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E2E8F0"/>
                </a:solidFill>
              </a:defRPr>
            </a:pPr>
            <a:r>
              <a:t>Explain what it does</a:t>
            </a:r>
          </a:p>
          <a:p>
            <a:pPr>
              <a:spcAft>
                <a:spcPts val="800"/>
              </a:spcAft>
              <a:defRPr sz="1050">
                <a:solidFill>
                  <a:srgbClr val="E2E8F0"/>
                </a:solidFill>
              </a:defRPr>
            </a:pPr>
            <a:r>
              <a:t>Read the metric</a:t>
            </a:r>
          </a:p>
          <a:p>
            <a:pPr>
              <a:spcAft>
                <a:spcPts val="800"/>
              </a:spcAft>
              <a:defRPr sz="1050">
                <a:solidFill>
                  <a:srgbClr val="E2E8F0"/>
                </a:solidFill>
              </a:defRPr>
            </a:pPr>
            <a:r>
              <a:t>Connect to the report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0352" y="6355080"/>
            <a:ext cx="786384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41080" y="6199632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2004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38BDF8"/>
                </a:solidFill>
                <a:latin typeface="Arial"/>
              </a:defRPr>
            </a:pPr>
            <a:r>
              <a:t>METHODS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12648"/>
            <a:ext cx="7955279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The report also studies additional algorithms.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91640"/>
            <a:ext cx="20574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91640"/>
            <a:ext cx="73152" cy="1417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856232"/>
            <a:ext cx="1737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SVM, Naive Bayes, Gradient Boosting and PCA.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167128"/>
            <a:ext cx="1737360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SVM, Naive Bayes, Gradient Boosting and PCA.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71800" y="1691640"/>
            <a:ext cx="20574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971800" y="1691640"/>
            <a:ext cx="73152" cy="14173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72968" y="1856232"/>
            <a:ext cx="1737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DBSCAN, Apriori, Hidden Markov Models and Autoencoders.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72968" y="2167128"/>
            <a:ext cx="1737360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DBSCAN, Apriori, Hidden Markov Models and Autoencoders.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703320"/>
            <a:ext cx="20574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3703320"/>
            <a:ext cx="73152" cy="14173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" y="3867911"/>
            <a:ext cx="1737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Each method is explained with use cases, strengths and limits.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4178808"/>
            <a:ext cx="1737360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Each method is explained with use cases, strengths and limits.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89320" y="1508760"/>
            <a:ext cx="2606040" cy="4297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178308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Defense focus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2240280"/>
            <a:ext cx="2057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E2E8F0"/>
                </a:solidFill>
              </a:defRPr>
            </a:pPr>
            <a:r>
              <a:t>Explain what it does</a:t>
            </a:r>
          </a:p>
          <a:p>
            <a:pPr>
              <a:spcAft>
                <a:spcPts val="800"/>
              </a:spcAft>
              <a:defRPr sz="1050">
                <a:solidFill>
                  <a:srgbClr val="E2E8F0"/>
                </a:solidFill>
              </a:defRPr>
            </a:pPr>
            <a:r>
              <a:t>Read the metric</a:t>
            </a:r>
          </a:p>
          <a:p>
            <a:pPr>
              <a:spcAft>
                <a:spcPts val="800"/>
              </a:spcAft>
              <a:defRPr sz="1050">
                <a:solidFill>
                  <a:srgbClr val="E2E8F0"/>
                </a:solidFill>
              </a:defRPr>
            </a:pPr>
            <a:r>
              <a:t>Connect to the report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0352" y="6355080"/>
            <a:ext cx="786384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41080" y="6199632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2004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38BDF8"/>
                </a:solidFill>
                <a:latin typeface="Arial"/>
              </a:defRPr>
            </a:pPr>
            <a:r>
              <a:t>APPLICATIONS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12648"/>
            <a:ext cx="7955279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The same ML logic applies to three options.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00200"/>
            <a:ext cx="4800600" cy="3291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Development: bug prediction, logs, DevOps monitoring.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Cybersecurity: anomaly detection, phishing and threat classification.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Artificial Intelligence: prediction, segmentation and decision support.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89320" y="1508760"/>
            <a:ext cx="2606040" cy="4297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3640" y="178308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Three options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2240280"/>
            <a:ext cx="2057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E2E8F0"/>
                </a:solidFill>
              </a:defRPr>
            </a:pPr>
            <a:r>
              <a:t>Development</a:t>
            </a:r>
          </a:p>
          <a:p>
            <a:pPr>
              <a:spcAft>
                <a:spcPts val="800"/>
              </a:spcAft>
              <a:defRPr sz="1050">
                <a:solidFill>
                  <a:srgbClr val="E2E8F0"/>
                </a:solidFill>
              </a:defRPr>
            </a:pPr>
            <a:r>
              <a:t>Cybersecurity</a:t>
            </a:r>
          </a:p>
          <a:p>
            <a:pPr>
              <a:spcAft>
                <a:spcPts val="800"/>
              </a:spcAft>
              <a:defRPr sz="1050">
                <a:solidFill>
                  <a:srgbClr val="E2E8F0"/>
                </a:solidFill>
              </a:defRPr>
            </a:pPr>
            <a:r>
              <a:t>AI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" y="6355080"/>
            <a:ext cx="786384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41080" y="6199632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2004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38BDF8"/>
                </a:solidFill>
                <a:latin typeface="Arial"/>
              </a:defRPr>
            </a:pPr>
            <a:r>
              <a:t>LIMITS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12648"/>
            <a:ext cx="7955279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Machine learning needs evaluation and human interpretation.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00200"/>
            <a:ext cx="4800600" cy="3291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Random data is useful for learning but less realistic than production data.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Overfitting, drift and poor data quality can reduce reliability.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Metrics must be interpreted with graphs and domain knowledge.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89320" y="1508760"/>
            <a:ext cx="2606040" cy="4297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3640" y="178308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2240280"/>
            <a:ext cx="2057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E2E8F0"/>
                </a:solidFill>
              </a:defRPr>
            </a:pPr>
            <a:r>
              <a:t>Data</a:t>
            </a:r>
          </a:p>
          <a:p>
            <a:pPr>
              <a:spcAft>
                <a:spcPts val="800"/>
              </a:spcAft>
              <a:defRPr sz="1050">
                <a:solidFill>
                  <a:srgbClr val="E2E8F0"/>
                </a:solidFill>
              </a:defRPr>
            </a:pPr>
            <a:r>
              <a:t>Overfitting</a:t>
            </a:r>
          </a:p>
          <a:p>
            <a:pPr>
              <a:spcAft>
                <a:spcPts val="800"/>
              </a:spcAft>
              <a:defRPr sz="1050">
                <a:solidFill>
                  <a:srgbClr val="E2E8F0"/>
                </a:solidFill>
              </a:defRPr>
            </a:pPr>
            <a:r>
              <a:t>Drift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" y="6355080"/>
            <a:ext cx="786384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41080" y="6199632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2004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38BDF8"/>
                </a:solidFill>
                <a:latin typeface="Arial"/>
              </a:defRPr>
            </a:pPr>
            <a:r>
              <a:t>7-MIN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12648"/>
            <a:ext cx="7955279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The oral presentation is timed to stay under seven minutes.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00200"/>
            <a:ext cx="4663440" cy="3474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1 minute: context, objective and AI/ML foundation.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3 minutes: application workflow, architecture and screenshots.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2 minutes: methods, domains, limits and perspectives.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1 minute: conclusion and questions.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89320" y="1508760"/>
            <a:ext cx="2606040" cy="429768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3640" y="178308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Target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2240280"/>
            <a:ext cx="2057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E2E8F0"/>
                </a:solidFill>
              </a:defRPr>
            </a:pPr>
            <a:r>
              <a:t>15 slides</a:t>
            </a:r>
          </a:p>
          <a:p>
            <a:pPr>
              <a:spcAft>
                <a:spcPts val="800"/>
              </a:spcAft>
              <a:defRPr sz="1050">
                <a:solidFill>
                  <a:srgbClr val="E2E8F0"/>
                </a:solidFill>
              </a:defRPr>
            </a:pPr>
            <a:r>
              <a:t>About 28 sec each</a:t>
            </a:r>
          </a:p>
          <a:p>
            <a:pPr>
              <a:spcAft>
                <a:spcPts val="800"/>
              </a:spcAft>
              <a:defRPr sz="1050">
                <a:solidFill>
                  <a:srgbClr val="E2E8F0"/>
                </a:solidFill>
              </a:defRPr>
            </a:pPr>
            <a:r>
              <a:t>Max 7 minutes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" y="6355080"/>
            <a:ext cx="786384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41080" y="6199632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2004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38BDF8"/>
                </a:solidFill>
                <a:latin typeface="Arial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12648"/>
            <a:ext cx="7955279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The final project is a complete academic and professional package.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00200"/>
            <a:ext cx="4800600" cy="3291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The report proves scientific understanding.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The executable proves implementation.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The presentation and video prove communication.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GitHub or LinkedIn publication turns it into a portfolio asset.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89320" y="1508760"/>
            <a:ext cx="2606040" cy="4297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3640" y="178308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Final message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2240280"/>
            <a:ext cx="2057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E2E8F0"/>
                </a:solidFill>
              </a:defRPr>
            </a:pPr>
            <a:r>
              <a:t>Research</a:t>
            </a:r>
          </a:p>
          <a:p>
            <a:pPr>
              <a:spcAft>
                <a:spcPts val="800"/>
              </a:spcAft>
              <a:defRPr sz="1050">
                <a:solidFill>
                  <a:srgbClr val="E2E8F0"/>
                </a:solidFill>
              </a:defRPr>
            </a:pPr>
            <a:r>
              <a:t>Implementation</a:t>
            </a:r>
          </a:p>
          <a:p>
            <a:pPr>
              <a:spcAft>
                <a:spcPts val="800"/>
              </a:spcAft>
              <a:defRPr sz="1050">
                <a:solidFill>
                  <a:srgbClr val="E2E8F0"/>
                </a:solidFill>
              </a:defRPr>
            </a:pPr>
            <a:r>
              <a:t>Communication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" y="6355080"/>
            <a:ext cx="7863840" cy="914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41080" y="6199632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